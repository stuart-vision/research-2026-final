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Roboto Black" panose="020B0604020202020204" charset="0"/>
      <p:bold r:id="rId13"/>
    </p:embeddedFont>
    <p:embeddedFont>
      <p:font typeface="Roboto Light" panose="020B0604020202020204" charset="0"/>
      <p:regular r:id="rId14"/>
      <p:italic r:id="rId15"/>
    </p:embeddedFont>
    <p:embeddedFont>
      <p:font typeface="Roboto Medium" panose="020B0604020202020204" charset="0"/>
      <p:regular r:id="rId16"/>
      <p:italic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4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7293" userDrawn="1">
          <p15:clr>
            <a:srgbClr val="A4A3A4"/>
          </p15:clr>
        </p15:guide>
        <p15:guide id="4" pos="4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04" y="36"/>
      </p:cViewPr>
      <p:guideLst>
        <p:guide orient="horz" pos="4324"/>
        <p:guide pos="3839"/>
        <p:guide pos="7293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 Light" panose="02000000000000000000" charset="0"/>
              <a:ea typeface="Roboto Light" panose="02000000000000000000" charset="0"/>
              <a:cs typeface="Roboto Light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Roboto Light" panose="02000000000000000000" charset="0"/>
              </a:rPr>
              <a:t>2025/3/22</a:t>
            </a:fld>
            <a:endParaRPr lang="zh-CN" altLang="en-US">
              <a:ea typeface="Roboto Light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 Light" panose="02000000000000000000" charset="0"/>
              <a:ea typeface="Roboto Light" panose="02000000000000000000" charset="0"/>
              <a:cs typeface="Roboto Light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Roboto Light" panose="02000000000000000000" charset="0"/>
              </a:rPr>
              <a:t>‹#›</a:t>
            </a:fld>
            <a:endParaRPr lang="zh-CN" altLang="en-US">
              <a:ea typeface="Roboto Light" panose="020000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 Light" panose="02000000000000000000" charset="0"/>
        <a:ea typeface="Roboto Light" panose="02000000000000000000" charset="0"/>
        <a:cs typeface="Roboto Light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5810" cy="338709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782320" y="683260"/>
            <a:ext cx="10624185" cy="549148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302260"/>
            <a:ext cx="228600" cy="54102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5810" cy="338709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 Light" panose="02000000000000000000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39395" y="240665"/>
            <a:ext cx="11712575" cy="637667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Roboto Light" panose="02000000000000000000" charset="0"/>
              <a:sym typeface="+mn-ea"/>
            </a:endParaRP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2025/3/22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 Light" panose="02000000000000000000" charset="0"/>
                <a:ea typeface="Roboto Light" panose="02000000000000000000" charset="0"/>
                <a:cs typeface="Roboto Light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charset="0"/>
          <a:ea typeface="Roboto Light" panose="02000000000000000000" charset="0"/>
          <a:cs typeface="Roboto Light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694944"/>
            <a:ext cx="3877056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331720"/>
            <a:ext cx="1051560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203864"/>
                </a:solidFill>
                <a:latin typeface="Times New Roman"/>
              </a:rPr>
              <a:t>An Empirical Evaluation of Deep Learning Models for Enhanced and Scalable Bug Detection and Classification in Large-Scale Software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4224528"/>
            <a:ext cx="2743200" cy="365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44398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203864"/>
                </a:solidFill>
                <a:latin typeface="Roboto Medium"/>
              </a:rPr>
              <a:t>S. Shanthosh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E70"/>
                </a:solidFill>
                <a:latin typeface="Roboto Light"/>
              </a:rPr>
              <a:t>researchp180@gmail.com   |   20APSE4882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559612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3864"/>
                </a:solidFill>
                <a:latin typeface="Roboto Medium"/>
              </a:rPr>
              <a:t>Supervisor: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Roboto Light"/>
              </a:rPr>
              <a:t>Mrs. W.M.L.S. Abeythunga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E70"/>
                </a:solidFill>
                <a:latin typeface="Roboto Light"/>
              </a:rPr>
              <a:t>Department of Computing and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9456"/>
            <a:ext cx="548640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203864"/>
                </a:solidFill>
                <a:latin typeface="Times New Roman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481328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91056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542032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6090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65176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Literature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602736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2160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3712463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Research Objectives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663440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78231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4773168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Methodology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481328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0020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1591056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42032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6090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265176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Discussion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602736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72160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3712463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Future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663440"/>
            <a:ext cx="566928" cy="56692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78231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Roboto Medium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773168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03864"/>
                </a:solidFill>
                <a:latin typeface="Roboto Black"/>
              </a:rPr>
              <a:t>Publications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Background and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67208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326440" indent="-326440">
              <a:lnSpc>
                <a:spcPct val="112000"/>
              </a:lnSpc>
              <a:spcAft>
                <a:spcPts val="1300"/>
              </a:spcAft>
            </a:pPr>
            <a:r>
              <a:rPr sz="1700">
                <a:solidFill>
                  <a:srgbClr val="203864"/>
                </a:solidFill>
                <a:latin typeface="Roboto Light"/>
              </a:rPr>
              <a:t>▪   </a:t>
            </a:r>
            <a:r>
              <a:rPr sz="1700" b="0">
                <a:solidFill>
                  <a:srgbClr val="1A1A1A"/>
                </a:solidFill>
                <a:latin typeface="Roboto Light"/>
              </a:rPr>
              <a:t>Modern systems run to millions of lines of code, built by distributed teams under continuous delivery.</a:t>
            </a:r>
          </a:p>
          <a:p>
            <a:pPr marL="326440" indent="-326440">
              <a:lnSpc>
                <a:spcPct val="112000"/>
              </a:lnSpc>
              <a:spcAft>
                <a:spcPts val="1300"/>
              </a:spcAft>
            </a:pPr>
            <a:r>
              <a:rPr sz="1700">
                <a:solidFill>
                  <a:srgbClr val="203864"/>
                </a:solidFill>
                <a:latin typeface="Roboto Light"/>
              </a:rPr>
              <a:t>▪   </a:t>
            </a:r>
            <a:r>
              <a:rPr sz="1700" b="0">
                <a:solidFill>
                  <a:srgbClr val="1A1A1A"/>
                </a:solidFill>
                <a:latin typeface="Roboto Light"/>
              </a:rPr>
              <a:t>Poor software quality costs the US economy over $2 trillion a year, much of it from defects that escaped detection (CISQ, 2022).</a:t>
            </a:r>
          </a:p>
          <a:p>
            <a:pPr marL="326440" indent="-326440">
              <a:lnSpc>
                <a:spcPct val="112000"/>
              </a:lnSpc>
              <a:spcAft>
                <a:spcPts val="1300"/>
              </a:spcAft>
            </a:pPr>
            <a:r>
              <a:rPr sz="1700">
                <a:solidFill>
                  <a:srgbClr val="203864"/>
                </a:solidFill>
                <a:latin typeface="Roboto Light"/>
              </a:rPr>
              <a:t>▪   </a:t>
            </a:r>
            <a:r>
              <a:rPr sz="1700" b="0">
                <a:solidFill>
                  <a:srgbClr val="1A1A1A"/>
                </a:solidFill>
                <a:latin typeface="Roboto Light"/>
              </a:rPr>
              <a:t>A defect found in production costs roughly 10x more to fix than one found at design time (Boehm, 1981).</a:t>
            </a:r>
          </a:p>
          <a:p>
            <a:pPr marL="326440" indent="-326440">
              <a:lnSpc>
                <a:spcPct val="112000"/>
              </a:lnSpc>
              <a:spcAft>
                <a:spcPts val="1300"/>
              </a:spcAft>
            </a:pPr>
            <a:r>
              <a:rPr sz="1700">
                <a:solidFill>
                  <a:srgbClr val="203864"/>
                </a:solidFill>
                <a:latin typeface="Roboto Light"/>
              </a:rPr>
              <a:t>▪   </a:t>
            </a:r>
            <a:r>
              <a:rPr sz="1700" b="0">
                <a:solidFill>
                  <a:srgbClr val="1A1A1A"/>
                </a:solidFill>
                <a:latin typeface="Roboto Light"/>
              </a:rPr>
              <a:t>Manual review does not scale; static analysis produces false positives until developers stop reading the warnings.</a:t>
            </a:r>
          </a:p>
          <a:p>
            <a:pPr marL="326440" indent="-326440">
              <a:lnSpc>
                <a:spcPct val="112000"/>
              </a:lnSpc>
              <a:spcAft>
                <a:spcPts val="1300"/>
              </a:spcAft>
            </a:pPr>
            <a:r>
              <a:rPr sz="1700">
                <a:solidFill>
                  <a:srgbClr val="203864"/>
                </a:solidFill>
                <a:latin typeface="Roboto Light"/>
              </a:rPr>
              <a:t>▪   </a:t>
            </a:r>
            <a:r>
              <a:rPr sz="1700" b="0">
                <a:solidFill>
                  <a:srgbClr val="1A1A1A"/>
                </a:solidFill>
                <a:latin typeface="Roboto Light"/>
              </a:rPr>
              <a:t>Machine learning can learn defect patterns from historical software metrics and flag fault-prone modules before release.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572768"/>
            <a:ext cx="4069080" cy="39319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572768"/>
            <a:ext cx="68580" cy="39319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1828800"/>
            <a:ext cx="35204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WHY IT MATTERS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203864"/>
                </a:solidFill>
                <a:latin typeface="Roboto Medium"/>
              </a:rPr>
              <a:t>$2 trillion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sz="1300" b="0" i="0">
                <a:solidFill>
                  <a:srgbClr val="555E70"/>
                </a:solidFill>
                <a:latin typeface="Roboto Light"/>
              </a:rPr>
              <a:t>annual US cost of poor software quality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0" i="0">
                <a:solidFill>
                  <a:srgbClr val="203864"/>
                </a:solidFill>
                <a:latin typeface="Roboto Medium"/>
              </a:rPr>
              <a:t>10x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sz="1300" b="0" i="0">
                <a:solidFill>
                  <a:srgbClr val="555E70"/>
                </a:solidFill>
                <a:latin typeface="Roboto Light"/>
              </a:rPr>
              <a:t>cost multiplier for a defect found after release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RESEARCH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Severe class imbalance defeats standard classifiers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6492240" cy="1170432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68580" cy="1170432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64208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Roboto Light"/>
              </a:rPr>
              <a:t>Defective modules are 5-20% of any codebase. A model that maximises accuracy learns to predict “clean” almost always — scoring well while finding almost no defects.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71216"/>
            <a:ext cx="6492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THE ACCURACY PARADOX ON JM1</a:t>
            </a:r>
          </a:p>
          <a:p>
            <a:pPr marL="307238" indent="-307238"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203864"/>
                </a:solidFill>
                <a:latin typeface="Roboto Light"/>
              </a:rPr>
              <a:t>▪   </a:t>
            </a:r>
            <a:r>
              <a:rPr sz="1600" b="0">
                <a:solidFill>
                  <a:srgbClr val="C0502A"/>
                </a:solidFill>
                <a:latin typeface="Roboto Light"/>
              </a:rPr>
              <a:t>Predict every module clean  →  80.7% accuracy, 0 defects found</a:t>
            </a:r>
          </a:p>
          <a:p>
            <a:pPr marL="307238" indent="-307238"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203864"/>
                </a:solidFill>
                <a:latin typeface="Roboto Light"/>
              </a:rPr>
              <a:t>▪   </a:t>
            </a:r>
            <a:r>
              <a:rPr sz="1600" b="0">
                <a:solidFill>
                  <a:srgbClr val="1A1A1A"/>
                </a:solidFill>
                <a:latin typeface="Roboto Light"/>
              </a:rPr>
              <a:t>Random Forest, no correction  →  81.1% accuracy, 85 of 421 found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1">
                <a:solidFill>
                  <a:srgbClr val="555E70"/>
                </a:solidFill>
                <a:latin typeface="Roboto Light"/>
              </a:rPr>
              <a:t>0.4 percentage points of accuracy separate a useless model from a partly useful one. Accuracy cannot rank these models.</a:t>
            </a:r>
          </a:p>
        </p:txBody>
      </p:sp>
      <p:pic>
        <p:nvPicPr>
          <p:cNvPr id="13" name="Picture 12" descr="01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72768"/>
            <a:ext cx="4251960" cy="17336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IEEE Xplore, ACM DL, Springer and ScienceDirect; seminal works plus 2016–2024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27048"/>
          <a:ext cx="1110996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2148840"/>
                <a:gridCol w="3703320"/>
                <a:gridCol w="31089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Roboto Medium"/>
                        </a:rPr>
                        <a:t>Study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Roboto Medium"/>
                        </a:rPr>
                        <a:t>Approach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Roboto Medium"/>
                        </a:rPr>
                        <a:t>Contribution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Roboto Medium"/>
                        </a:rPr>
                        <a:t>Limitation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Halstead (1977);
McCabe (1976)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Complexity metrics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Established the metric families still used today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Static snapshot 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Menzies et al. (2010)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Traditional ML on
static features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Simple models on good features are hard to beat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Ceiling set by static features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Li (2017)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CNN on code and
metric vectors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Improved F1 over traditional ML on PROMISE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Local patterns 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Hochreiter &amp;
Schmidhuber (1997)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LSTM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Models long-range sequential dependency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No local feature detection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Lin et al. (2017)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Focal Loss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Reweights training toward hard examples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Validated in vision, not in defect prediction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Chawla (2002);
Han (2005)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SMOTE /
BorderlineSMOTE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Data-level balancing of the minority class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Does not change the objective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Devlin (2019);
Sanh (2019)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BERT / DistilBERT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Contextual embeddings for bug report text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Needs task-specific fine-tuning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RESEARCH GAPS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Three gaps identified; this study addresses all three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3611880" cy="37033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65376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GAP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03864"/>
                </a:solidFill>
                <a:latin typeface="Roboto Medium"/>
              </a:rPr>
              <a:t>No unified comparison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Roboto Light"/>
              </a:rPr>
              <a:t>Traditional ML, hybrid deep models and transformers are rarely compared on the same data under one preprocessing pipeline and one evaluation protocol.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572768"/>
            <a:ext cx="3611880" cy="37033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865376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Roboto Medium"/>
              </a:rPr>
              <a:t>GAP 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FFFFFF"/>
                </a:solidFill>
                <a:latin typeface="Roboto Medium"/>
              </a:rPr>
              <a:t>Focal Loss unvalidated for defect prediction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6ECF6"/>
                </a:solidFill>
                <a:latin typeface="Roboto Light"/>
              </a:rPr>
              <a:t>Algorithm-level correction is established in vision and NLP, but has not been validated for software defect prediction, least of all a class-weighted variant.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4709160"/>
            <a:ext cx="3063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Roboto Medium"/>
              </a:rPr>
              <a:t>▶  SELECTED FOR THIS STUDY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572768"/>
            <a:ext cx="3611880" cy="37033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1865376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GAP 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03864"/>
                </a:solidFill>
                <a:latin typeface="Roboto Medium"/>
              </a:rPr>
              <a:t>Modalities studied separately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Roboto Light"/>
              </a:rPr>
              <a:t>Code-metric defect prediction and bug report classification are treated in disjoint literatures despite serving consecutive stages of the same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RESEARCH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Overall aim, specific objectives and research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11109960" cy="74980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81328"/>
            <a:ext cx="68580" cy="74980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09344"/>
            <a:ext cx="106070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55E70"/>
                </a:solidFill>
                <a:latin typeface="Roboto Medium"/>
              </a:rPr>
              <a:t>AIM   </a:t>
            </a:r>
            <a:r>
              <a:rPr sz="1500" b="0">
                <a:solidFill>
                  <a:srgbClr val="1A1A1A"/>
                </a:solidFill>
                <a:latin typeface="Roboto Light"/>
              </a:rPr>
              <a:t>To empirically evaluate traditional ML and deep learning for bug detection, and determine how far imbalance-aware training improves detection on severely imbalanced defect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2"/>
            <a:ext cx="5532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SPECIFIC OBJECTIVES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O1   </a:t>
            </a:r>
            <a:r>
              <a:rPr sz="1500">
                <a:solidFill>
                  <a:srgbClr val="1A1A1A"/>
                </a:solidFill>
                <a:latin typeface="Roboto Light"/>
              </a:rPr>
              <a:t>Implement Random Forest and Naive Bayes baselines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O2   </a:t>
            </a:r>
            <a:r>
              <a:rPr sz="1500">
                <a:solidFill>
                  <a:srgbClr val="1A1A1A"/>
                </a:solidFill>
                <a:latin typeface="Roboto Light"/>
              </a:rPr>
              <a:t>Design and evaluate a hybrid CNN-LSTM architecture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O3   </a:t>
            </a:r>
            <a:r>
              <a:rPr sz="1500">
                <a:solidFill>
                  <a:srgbClr val="1A1A1A"/>
                </a:solidFill>
                <a:latin typeface="Roboto Light"/>
              </a:rPr>
              <a:t>Fine-tune DistilBERT for bug report severity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O4   </a:t>
            </a:r>
            <a:r>
              <a:rPr sz="1500">
                <a:solidFill>
                  <a:srgbClr val="1A1A1A"/>
                </a:solidFill>
                <a:latin typeface="Roboto Light"/>
              </a:rPr>
              <a:t>Implement and validate imbalance-aware training (Focal Loss, Class-Weighted Focal Loss)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O5   </a:t>
            </a:r>
            <a:r>
              <a:rPr sz="1500">
                <a:solidFill>
                  <a:srgbClr val="1A1A1A"/>
                </a:solidFill>
                <a:latin typeface="Roboto Light"/>
              </a:rPr>
              <a:t>Compare all models on one held-out test set and by 10-fold cross-validation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50592"/>
            <a:ext cx="18288" cy="3017520"/>
          </a:xfrm>
          <a:prstGeom prst="rect">
            <a:avLst/>
          </a:prstGeom>
          <a:solidFill>
            <a:srgbClr val="C8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450592"/>
            <a:ext cx="5029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RESEARCH QUESTIONS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RQ1   </a:t>
            </a:r>
            <a:r>
              <a:rPr sz="1500">
                <a:solidFill>
                  <a:srgbClr val="1A1A1A"/>
                </a:solidFill>
                <a:latin typeface="Roboto Light"/>
              </a:rPr>
              <a:t>How effectively do traditional ML models predict defects compared with deep learning?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RQ2   </a:t>
            </a:r>
            <a:r>
              <a:rPr sz="1500">
                <a:solidFill>
                  <a:srgbClr val="1A1A1A"/>
                </a:solidFill>
                <a:latin typeface="Roboto Light"/>
              </a:rPr>
              <a:t>How do CNN-LSTM and BERT improve detection on large, imbalanced datasets?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RQ3   </a:t>
            </a:r>
            <a:r>
              <a:rPr sz="1500">
                <a:solidFill>
                  <a:srgbClr val="1A1A1A"/>
                </a:solidFill>
                <a:latin typeface="Roboto Light"/>
              </a:rPr>
              <a:t>What is the impact of class imbalance on performance and generalisation?</a:t>
            </a:r>
          </a:p>
          <a:p>
            <a:pPr marL="411480" indent="-411480">
              <a:lnSpc>
                <a:spcPct val="115000"/>
              </a:lnSpc>
              <a:spcAft>
                <a:spcPts val="900"/>
              </a:spcAft>
            </a:pPr>
            <a:r>
              <a:rPr sz="1500" b="1">
                <a:solidFill>
                  <a:srgbClr val="203864"/>
                </a:solidFill>
                <a:latin typeface="Roboto Medium"/>
              </a:rPr>
              <a:t>RQ4   </a:t>
            </a:r>
            <a:r>
              <a:rPr sz="1500">
                <a:solidFill>
                  <a:srgbClr val="1A1A1A"/>
                </a:solidFill>
                <a:latin typeface="Roboto Light"/>
              </a:rPr>
              <a:t>Which model gives the best balance of accuracy, precision, recall and F1?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Research design, data collection and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5349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DESIGN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Roboto Light"/>
              </a:rPr>
              <a:t>Quantitative, experimental and comparative. Seven configurations vary model capacity and imbalance correction; everything else is held constant. All seeds fixed at 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DATA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008376"/>
          <a:ext cx="5349240" cy="17922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Property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JM1 dataset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Source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PROMISE (NASA), via OpenML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Modules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10,885 C modules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Features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21 Halstead &amp; McCabe metrics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Defective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2,106  (19.3%)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03864"/>
                          </a:solidFill>
                          <a:latin typeface="Roboto Light"/>
                        </a:rPr>
                        <a:t>Imbalance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03864"/>
                          </a:solidFill>
                          <a:latin typeface="Roboto Light"/>
                        </a:rPr>
                        <a:t>4.2 :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19472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E70"/>
                </a:solidFill>
                <a:latin typeface="Roboto Light"/>
              </a:rPr>
              <a:t>Plus 1,200 bug reports (600 high / 600 low priority) for the classification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813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PREPROCESSING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384048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11095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837943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03864"/>
                </a:solidFill>
                <a:latin typeface="Roboto Medium"/>
              </a:rPr>
              <a:t>Median imputation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25 missing values, 5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04872"/>
            <a:ext cx="384048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487168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14015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03864"/>
                </a:solidFill>
                <a:latin typeface="Roboto Medium"/>
              </a:rPr>
              <a:t>Winsorisation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capped at the 99th percentile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80944"/>
            <a:ext cx="384048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63239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990087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03864"/>
                </a:solidFill>
                <a:latin typeface="Roboto Medium"/>
              </a:rPr>
              <a:t>Stratified split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8,708 train / 2,177 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557015"/>
            <a:ext cx="384048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39311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59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03864"/>
                </a:solidFill>
                <a:latin typeface="Roboto Medium"/>
              </a:rPr>
              <a:t>Min-max normalisation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fitted on training data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133087"/>
            <a:ext cx="384048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215383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142231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203864"/>
                </a:solidFill>
                <a:latin typeface="Roboto Medium"/>
              </a:rPr>
              <a:t>BorderlineSMOTE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train only → 14,046 balanced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791456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55E70"/>
                </a:solidFill>
                <a:latin typeface="Roboto Light"/>
              </a:rPr>
              <a:t>The test set keeps its natural 4.2:1 imbalance, so results reflect deployment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Model families and the hybrid CNN-LSTM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MODELS EVALUATED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73936"/>
          <a:ext cx="6400800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23160"/>
                <a:gridCol w="1737360"/>
                <a:gridCol w="2240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Type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Imbalance strategy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Random Forest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Traditional ML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None / BorderlineSMOTE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Gaussian Naive Bayes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Traditional ML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None / BorderlineSMOTE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CNN-LSTM (BCE)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Deep learning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CNN-LSTM (FL)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Deep learning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Focal Loss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03864"/>
                          </a:solidFill>
                          <a:latin typeface="Roboto Light"/>
                        </a:rPr>
                        <a:t>CNN-LSTM (CW-FL)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03864"/>
                          </a:solidFill>
                          <a:latin typeface="Roboto Light"/>
                        </a:rPr>
                        <a:t>Deep learning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03864"/>
                          </a:solidFill>
                          <a:latin typeface="Roboto Light"/>
                        </a:rPr>
                        <a:t>SMOTE + Class-Weighted FL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DistilBERT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Transformer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Roboto Light"/>
                        </a:rPr>
                        <a:t>Balanced dataset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315968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E70"/>
                </a:solidFill>
                <a:latin typeface="Roboto Light"/>
              </a:rPr>
              <a:t>Each metric vector is reshaped to a 21-step sequence: convolutions detect local patterns among related metrics, the LSTM aggregates them across the vector.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4813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CNN-LSTM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810512"/>
            <a:ext cx="429768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892807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864"/>
                </a:solidFill>
                <a:latin typeface="Roboto Medium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9019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E70"/>
                </a:solidFill>
                <a:latin typeface="Roboto Light"/>
              </a:rPr>
              <a:t>(batch, 21,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2267712"/>
            <a:ext cx="4297680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3500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Conv1D + BatchNorm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3591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0F0"/>
                </a:solidFill>
                <a:latin typeface="Roboto Light"/>
              </a:rPr>
              <a:t>64 filters, kernel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724912"/>
            <a:ext cx="4297680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8072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Conv1D + BatchNorm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8163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0F0"/>
                </a:solidFill>
                <a:latin typeface="Roboto Light"/>
              </a:rPr>
              <a:t>128 filters, kernel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182112"/>
            <a:ext cx="4297680" cy="3840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2644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2735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0F0"/>
                </a:solidFill>
                <a:latin typeface="Roboto Light"/>
              </a:rPr>
              <a:t>64 hidden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3639312"/>
            <a:ext cx="429768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7216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864"/>
                </a:solidFill>
                <a:latin typeface="Roboto Medium"/>
              </a:rPr>
              <a:t>Dropout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7307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E70"/>
                </a:solidFill>
                <a:latin typeface="Roboto Light"/>
              </a:rPr>
              <a:t>rate 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4096512"/>
            <a:ext cx="429768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1788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864"/>
                </a:solidFill>
                <a:latin typeface="Roboto Medium"/>
              </a:rPr>
              <a:t>Dense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1879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E70"/>
                </a:solidFill>
                <a:latin typeface="Roboto Light"/>
              </a:rPr>
              <a:t>32 units, ReLU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4553712"/>
            <a:ext cx="429768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463600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864"/>
                </a:solidFill>
                <a:latin typeface="Roboto Medium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4645152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E70"/>
                </a:solidFill>
                <a:latin typeface="Roboto Light"/>
              </a:rPr>
              <a:t>1 unit, sigmoid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04748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3864"/>
                </a:solidFill>
                <a:latin typeface="Roboto Medium"/>
              </a:rPr>
              <a:t>77,121 trainable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PROPOSED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Class-Weighted Focal Loss — the contribution of this study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27048"/>
            <a:ext cx="6903720" cy="13258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27048"/>
            <a:ext cx="54864" cy="13258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55064"/>
            <a:ext cx="6355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03864"/>
                </a:solidFill>
                <a:latin typeface="Roboto Medium"/>
              </a:rPr>
              <a:t>Binary Cross-Entropy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BCE  =  −[ y·log(p) + (1−y)·log(1−p) 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Every example counts equally, so the majority class dominates the gradient.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6903720" cy="13258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4864" cy="13258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45536"/>
            <a:ext cx="6355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03864"/>
                </a:solidFill>
                <a:latin typeface="Roboto Medium"/>
              </a:rPr>
              <a:t>Focal Loss  (Lin et al., 2017)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FL  =  −α · (1 − pₜ)^γ · log(pₜ)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555E70"/>
                </a:solidFill>
                <a:latin typeface="Consolas"/>
              </a:rPr>
              <a:t>α = 0.75      γ = 2.0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70"/>
                </a:solidFill>
                <a:latin typeface="Roboto Light"/>
              </a:rPr>
              <a:t>Example-level: suppresses easy examples so training focuses on hard 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07992"/>
            <a:ext cx="6903720" cy="13258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36007"/>
            <a:ext cx="6355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</a:rPr>
              <a:t>Class-Weighted Focal Loss  (proposed)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CW-FL  =  w(y) · FL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8D4EA"/>
                </a:solidFill>
                <a:latin typeface="Consolas"/>
              </a:rPr>
              <a:t>w = 4.2 if defective      w = 1.0 if clean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E0F0"/>
                </a:solidFill>
                <a:latin typeface="Roboto Light"/>
              </a:rPr>
              <a:t>Class-level: the observed imbalance ratio is encoded into the objective itself.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527048"/>
            <a:ext cx="3913632" cy="43068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792224"/>
            <a:ext cx="3337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WHY IT WORKS</a:t>
            </a:r>
          </a:p>
          <a:p>
            <a:pPr marL="259232" indent="-259232">
              <a:lnSpc>
                <a:spcPct val="112000"/>
              </a:lnSpc>
              <a:spcAft>
                <a:spcPts val="1100"/>
              </a:spcAft>
            </a:pPr>
            <a:r>
              <a:rPr sz="1350">
                <a:solidFill>
                  <a:srgbClr val="203864"/>
                </a:solidFill>
                <a:latin typeface="Roboto Light"/>
              </a:rPr>
              <a:t>▪   </a:t>
            </a:r>
            <a:r>
              <a:rPr sz="1350" b="0">
                <a:solidFill>
                  <a:srgbClr val="1A1A1A"/>
                </a:solidFill>
                <a:latin typeface="Roboto Light"/>
              </a:rPr>
              <a:t>The focusing term is adaptive: it tracks how well the model currently classifies each example.</a:t>
            </a:r>
          </a:p>
          <a:p>
            <a:pPr marL="259232" indent="-259232">
              <a:lnSpc>
                <a:spcPct val="112000"/>
              </a:lnSpc>
              <a:spcAft>
                <a:spcPts val="1100"/>
              </a:spcAft>
            </a:pPr>
            <a:r>
              <a:rPr sz="1350">
                <a:solidFill>
                  <a:srgbClr val="203864"/>
                </a:solidFill>
                <a:latin typeface="Roboto Light"/>
              </a:rPr>
              <a:t>▪   </a:t>
            </a:r>
            <a:r>
              <a:rPr sz="1350" b="0">
                <a:solidFill>
                  <a:srgbClr val="1A1A1A"/>
                </a:solidFill>
                <a:latin typeface="Roboto Light"/>
              </a:rPr>
              <a:t>The class weight is static: it encodes a fixed property of the dataset.</a:t>
            </a:r>
          </a:p>
          <a:p>
            <a:pPr marL="259232" indent="-259232">
              <a:lnSpc>
                <a:spcPct val="112000"/>
              </a:lnSpc>
              <a:spcAft>
                <a:spcPts val="1100"/>
              </a:spcAft>
            </a:pPr>
            <a:r>
              <a:rPr sz="1350">
                <a:solidFill>
                  <a:srgbClr val="203864"/>
                </a:solidFill>
                <a:latin typeface="Roboto Light"/>
              </a:rPr>
              <a:t>▪   </a:t>
            </a:r>
            <a:r>
              <a:rPr sz="1350" b="0">
                <a:solidFill>
                  <a:srgbClr val="1A1A1A"/>
                </a:solidFill>
                <a:latin typeface="Roboto Light"/>
              </a:rPr>
              <a:t>They correct different aspects of the same problem, so their effects add.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SIGNIFICANCE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03864"/>
                </a:solidFill>
                <a:latin typeface="Roboto Light"/>
              </a:rPr>
              <a:t>First systematic validation of class-weighted Focal Loss on a standard software defect prediction benchmark.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Baseline models on the held-out test set (2,177 modules, 421 defective)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27048"/>
          <a:ext cx="6766560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7400"/>
                <a:gridCol w="868680"/>
                <a:gridCol w="868680"/>
                <a:gridCol w="914400"/>
                <a:gridCol w="86868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Acc.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Prec.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Recall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F1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Detected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RF, no SMOTE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0.811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0.528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0.202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0.292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85 / 421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NB, no SMOTE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0.790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0.441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0.321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0.371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135 / 421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NB + SMOTE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0.774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0.404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0.359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0.380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151 / 421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RF + SMOTE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0.765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0.404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0.451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0.427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190 / 421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630168"/>
            <a:ext cx="6766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1A1A1A"/>
                </a:solidFill>
                <a:latin typeface="Roboto Light"/>
              </a:rPr>
              <a:t>Highest accuracy (RF, no SMOTE) finds the fewest defects — the accuracy paradox in one row.</a:t>
            </a:r>
          </a:p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1A1A1A"/>
                </a:solidFill>
                <a:latin typeface="Roboto Light"/>
              </a:rPr>
              <a:t>BorderlineSMOTE raises RF recall by 123%: 85 → 190 defects detected, at 4.5 points of accuracy.</a:t>
            </a:r>
          </a:p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1A1A1A"/>
                </a:solidFill>
                <a:latin typeface="Roboto Light"/>
              </a:rPr>
              <a:t>SMOTE barely moves Naive Bayes, which fits class-conditional Gaussians rather than a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527048"/>
            <a:ext cx="4005072" cy="157276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527048"/>
            <a:ext cx="68580" cy="15727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737360"/>
            <a:ext cx="35204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55E70"/>
                </a:solidFill>
                <a:latin typeface="Roboto Medium"/>
              </a:rPr>
              <a:t>BEST TRADITIONAL BASELINE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03864"/>
                </a:solidFill>
                <a:latin typeface="Roboto Medium"/>
              </a:rPr>
              <a:t>Random Forest + SMOTE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Roboto Light"/>
              </a:rPr>
              <a:t>Recall 0.451  ·  190 of 421 found  ·  231 missed</a:t>
            </a:r>
          </a:p>
        </p:txBody>
      </p:sp>
      <p:pic>
        <p:nvPicPr>
          <p:cNvPr id="14" name="Picture 13" descr="11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264408"/>
            <a:ext cx="4005072" cy="1816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Effect of the loss function — architecture, data and protocol held constant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27048"/>
          <a:ext cx="6766560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777240"/>
                <a:gridCol w="777240"/>
                <a:gridCol w="868680"/>
                <a:gridCol w="777240"/>
                <a:gridCol w="10515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CNN-LSTM configuration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Acc.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Prec.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Recall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F1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Roboto Medium"/>
                        </a:rPr>
                        <a:t>Detected</a:t>
                      </a:r>
                    </a:p>
                  </a:txBody>
                  <a:tcPr marL="64008" marR="64008" marT="18288" marB="18288" anchor="ctr">
                    <a:solidFill>
                      <a:srgbClr val="20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Binary Cross-Entropy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0.665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0.306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0.577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0.400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243 / 421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Focal Loss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0.558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0.270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0.755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0.398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Roboto Light"/>
                        </a:rPr>
                        <a:t>318 / 421</a:t>
                      </a:r>
                    </a:p>
                  </a:txBody>
                  <a:tcPr marL="64008" marR="64008" marT="18288" marB="18288" anchor="ctr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Class-Weighted Focal Loss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0.461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0.241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0.834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0.374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03864"/>
                          </a:solidFill>
                          <a:latin typeface="Roboto Light"/>
                        </a:rPr>
                        <a:t>351 / 421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419856"/>
            <a:ext cx="6766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1A1A1A"/>
                </a:solidFill>
                <a:latin typeface="Roboto Light"/>
              </a:rPr>
              <a:t>Even with plain BCE the CNN-LSTM beats every traditional model on recall — the architecture contributes independently of the loss.</a:t>
            </a:r>
          </a:p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1A1A1A"/>
                </a:solidFill>
                <a:latin typeface="Roboto Light"/>
              </a:rPr>
              <a:t>Focal Loss adds 17.8 points of recall and lifts ROC-AUC from 0.681 to 0.700, so it improved the learned ranking, not just the threshold.</a:t>
            </a:r>
          </a:p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203864"/>
                </a:solidFill>
                <a:latin typeface="Roboto Light"/>
              </a:rPr>
              <a:t>The class weight adds a further 7.9 points, reaching recall 0.834.</a:t>
            </a:r>
          </a:p>
          <a:p>
            <a:pPr marL="288036" indent="-288036">
              <a:lnSpc>
                <a:spcPct val="112000"/>
              </a:lnSpc>
              <a:spcAft>
                <a:spcPts val="1100"/>
              </a:spcAft>
            </a:pPr>
            <a:r>
              <a:rPr sz="1500">
                <a:solidFill>
                  <a:srgbClr val="203864"/>
                </a:solidFill>
                <a:latin typeface="Roboto Light"/>
              </a:rPr>
              <a:t>▪   </a:t>
            </a:r>
            <a:r>
              <a:rPr sz="1500" b="0">
                <a:solidFill>
                  <a:srgbClr val="555E70"/>
                </a:solidFill>
                <a:latin typeface="Roboto Light"/>
              </a:rPr>
              <a:t>Every gain in recall costs precision. This is a trade-off, not a free lunch.</a:t>
            </a:r>
          </a:p>
        </p:txBody>
      </p:sp>
      <p:pic>
        <p:nvPicPr>
          <p:cNvPr id="11" name="Picture 10" descr="21_bugs_cau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55648"/>
            <a:ext cx="4114800" cy="20354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Overall comparison and bug report classification</a:t>
            </a:r>
          </a:p>
        </p:txBody>
      </p:sp>
      <p:pic>
        <p:nvPicPr>
          <p:cNvPr id="9" name="Picture 8" descr="19_final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7048"/>
            <a:ext cx="6858000" cy="29547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80960" y="1527048"/>
            <a:ext cx="4005072" cy="16459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700784"/>
            <a:ext cx="34747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8D4EA"/>
                </a:solidFill>
                <a:latin typeface="Roboto Medium"/>
              </a:rPr>
              <a:t>HEADLINE RESULT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Roboto Medium"/>
              </a:rPr>
              <a:t>+84.7%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E0F0"/>
                </a:solidFill>
                <a:latin typeface="Roboto Light"/>
              </a:rPr>
              <a:t>detection rate over the best traditional baseline (190 → 351 of 421 defects)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310128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E70"/>
                </a:solidFill>
                <a:latin typeface="Roboto Medium"/>
              </a:rPr>
              <a:t>RECALL, CODE-METRIC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39312"/>
            <a:ext cx="4005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RF + 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639312"/>
            <a:ext cx="4005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03864"/>
                </a:solidFill>
                <a:latin typeface="Roboto Medium"/>
              </a:rPr>
              <a:t>0.451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877056"/>
            <a:ext cx="4005072" cy="146304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3877056"/>
            <a:ext cx="1806287" cy="146304"/>
          </a:xfrm>
          <a:prstGeom prst="rect">
            <a:avLst/>
          </a:prstGeom>
          <a:solidFill>
            <a:srgbClr val="C8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206240"/>
            <a:ext cx="4005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CNN-LSTM CW-FL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005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03864"/>
                </a:solidFill>
                <a:latin typeface="Roboto Medium"/>
              </a:rPr>
              <a:t>0.834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443983"/>
            <a:ext cx="4005072" cy="146304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4443983"/>
            <a:ext cx="3340230" cy="146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4882896"/>
            <a:ext cx="4005072" cy="10058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506577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55E70"/>
                </a:solidFill>
                <a:latin typeface="Roboto Medium"/>
              </a:rPr>
              <a:t>DISTILBERT — BUG REPORTS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F1 = 1.000 on 240 held-out reports. The classes are lexically separable; expect 0.85–0.95 on live tracker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What the results mean, and what they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3611880" cy="21488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72768"/>
            <a:ext cx="3611880" cy="5486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65376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03864"/>
                </a:solidFill>
                <a:latin typeface="Roboto Medium"/>
              </a:rPr>
              <a:t>The trade-off is the finding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Roboto Light"/>
              </a:rPr>
              <a:t>CW-FL flags 1,455 of 2,177 modules and finds 351 defects; RF+SMOTE flags 470 and finds 190. Yield per review falls from 0.40 to 0.24, but coverage reaches a level RF cannot attain at any threshold.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1572768"/>
            <a:ext cx="3611880" cy="21488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572768"/>
            <a:ext cx="3611880" cy="5486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865376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03864"/>
                </a:solidFill>
                <a:latin typeface="Roboto Medium"/>
              </a:rPr>
              <a:t>F1 misranks these models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Roboto Light"/>
              </a:rPr>
              <a:t>F1 peaks at RF+SMOTE and would reject the model that finds 161 more defects. F1 weights both errors equally; a defect reaching production costs ~10x a wasted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572768"/>
            <a:ext cx="3611880" cy="21488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572768"/>
            <a:ext cx="3611880" cy="5486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1865376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03864"/>
                </a:solidFill>
                <a:latin typeface="Roboto Medium"/>
              </a:rPr>
              <a:t>Architecture and objective both matter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Roboto Light"/>
              </a:rPr>
              <a:t>BCE-trained CNN-LSTM already beats RF+SMOTE on recall, so the gain is not from the loss alone. The factorial design separates the two contributions.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1109960" cy="148132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68580" cy="148132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96512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LIMITATIONS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Roboto Light"/>
              </a:rPr>
              <a:t>Single dataset (JM1), no cross-project validation  ·  constructed rather than live bug report data  ·  no cross-validation of the deep models  ·  CPU-only training limited hyperparameter search  ·  static features only, no process metrics  ·  no explainability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FUTURE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3385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E70"/>
                </a:solidFill>
                <a:latin typeface="Roboto Medium"/>
              </a:rPr>
              <a:t>Ordered by proximity to the present study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3611880" cy="17556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73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502A"/>
                </a:solidFill>
                <a:latin typeface="Roboto Medium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8483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3864"/>
                </a:solidFill>
                <a:latin typeface="Roboto Medium"/>
              </a:rPr>
              <a:t>Cross-project validation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Extend to KC1 and PC1, then train on one project and test on another to test generalisation under distribution shift.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1572768"/>
            <a:ext cx="3611880" cy="17556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773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502A"/>
                </a:solidFill>
                <a:latin typeface="Roboto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08483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3864"/>
                </a:solidFill>
                <a:latin typeface="Roboto Medium"/>
              </a:rPr>
              <a:t>Search the loss hyperparameters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α, γ and ρ were set on principled grounds. A systematic search would test whether ρ should equal the imbalance ratio.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572768"/>
            <a:ext cx="3611880" cy="17556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1773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502A"/>
                </a:solidFill>
                <a:latin typeface="Roboto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084832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3864"/>
                </a:solidFill>
                <a:latin typeface="Roboto Medium"/>
              </a:rPr>
              <a:t>Cost-sensitive evaluation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Replace F1 with Fβ calibrated to a real cost ratio, or expected-cost curves, so selection stops relying on judgement.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11296"/>
            <a:ext cx="3611880" cy="17556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7124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502A"/>
                </a:solidFill>
                <a:latin typeface="Roboto Medium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233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3864"/>
                </a:solidFill>
                <a:latin typeface="Roboto Medium"/>
              </a:rPr>
              <a:t>Live bug report data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Reproduce the DistilBERT result on Eclipse or Mozilla Bugzilla exports with authentic label noise.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3511296"/>
            <a:ext cx="3611880" cy="17556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4" y="37124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502A"/>
                </a:solidFill>
                <a:latin typeface="Roboto Medium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40233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3864"/>
                </a:solidFill>
                <a:latin typeface="Roboto Medium"/>
              </a:rPr>
              <a:t>Explainability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Apply SHAP or LIME so a flagged module comes with a reason. A model that cannot explain itself will not be trusted.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511296"/>
            <a:ext cx="3611880" cy="17556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0496" y="37124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0502A"/>
                </a:solidFill>
                <a:latin typeface="Roboto Medium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40233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03864"/>
                </a:solidFill>
                <a:latin typeface="Roboto Medium"/>
              </a:rPr>
              <a:t>Richer features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Add process metrics (churn, defect history) and apply graph neural networks to abstract syntax trees.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03864"/>
                </a:solidFill>
                <a:latin typeface="Times New Roman"/>
              </a:rPr>
              <a:t>PUBLICATIONS &amp;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371600" cy="4114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109960" cy="713232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68580" cy="71323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33502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55E70"/>
                </a:solidFill>
                <a:latin typeface="Roboto Medium"/>
              </a:rPr>
              <a:t>PUBLICATIONS   </a:t>
            </a:r>
            <a:r>
              <a:rPr sz="1400" b="0">
                <a:solidFill>
                  <a:srgbClr val="1A1A1A"/>
                </a:solidFill>
                <a:latin typeface="Roboto Light"/>
              </a:rPr>
              <a:t>None at the time of submission. A manuscript reporting the Class-Weighted Focal Loss results is in preparation for a peer-reviewed software engineering conference.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55321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KEY REFERENCES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[1] B. W. Boehm, Software Engineering Economics. Prentice-Hall, 1981.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[2] L. Breiman, “Random forests,” Machine Learning, vol. 45, no. 1, pp. 5–32, 2001.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[3] N. V. Chawla et al., “SMOTE,” JAIR, vol. 16, pp. 321–357, 2002.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[4] J. Devlin et al., “BERT,” in Proc. NAACL-HLT, 2019, pp. 4171–4186.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[5] M. H. Halstead, Elements of Software Science. Elsevier, 1977.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[6] H. Han et al., “Borderline-SMOTE,” in Proc. ICIC, 2005, pp. 878–887.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21408"/>
            <a:ext cx="18288" cy="2926080"/>
          </a:xfrm>
          <a:prstGeom prst="rect">
            <a:avLst/>
          </a:prstGeom>
          <a:solidFill>
            <a:srgbClr val="C8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21408"/>
            <a:ext cx="50292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55E70"/>
                </a:solidFill>
                <a:latin typeface="Roboto Medium"/>
              </a:rPr>
              <a:t>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[7] S. Hochreiter and J. Schmidhuber, “Long short-term memory,” Neural Computation, vol. 9, no. 8, 1997.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[8] T.-Y. Lin et al., “Focal loss for dense object detection,” in Proc. ICCV, 2017, pp. 2999–3007.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[9] T. J. McCabe, “A complexity measure,” IEEE TSE, vol. SE-2, no. 4, pp. 308–320, 1976.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[10] T. Menzies et al., “Defect prediction from static code features,” ASE, vol. 17, no. 4, 2010.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[11] V. Sanh et al., “DistilBERT,” arXiv:1910.01108, 2019.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1A1A"/>
                </a:solidFill>
                <a:latin typeface="Roboto Light"/>
              </a:rPr>
              <a:t>[12] J. S. Shirabad and T. J. Menzies, The PROMISE Repository, Univ. of Ottawa, 2005.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0"/>
            <a:ext cx="2240280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" y="6492240"/>
            <a:ext cx="5504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DEPARTMENT OF COMPUTING AND INFORMATION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7968" y="6519672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IS 42853 - RESEARCH PROJECT IN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3016" y="6519672"/>
            <a:ext cx="7955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03864"/>
                </a:solidFill>
                <a:latin typeface="Times New Roman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14600"/>
            <a:ext cx="9235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203864"/>
                </a:solidFill>
                <a:latin typeface="Times New Roman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712463"/>
            <a:ext cx="914400" cy="365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0" i="0">
                <a:solidFill>
                  <a:srgbClr val="555E70"/>
                </a:solidFill>
                <a:latin typeface="Roboto Medium"/>
              </a:rPr>
              <a:t>Questions &amp; Discussion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Roboto Light"/>
              </a:rPr>
              <a:t>S. Shanthosh   ·   20APSE4882   ·   researchp180@gmail.com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M3ZDNiNjQ5MjMwNGE4NGUzZGUzN2M4NzZkODkzZjgifQ=="/>
  <p:tag name="KSO_WPP_MARK_KEY" val="e6e9437c-a177-4588-88b5-a71076b8cdc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Roboto Light"/>
        <a:font script="Hebr" typeface="Roboto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Roboto Light"/>
        <a:font script="Hebr" typeface="Roboto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 Light"/>
        <a:ea typeface=""/>
        <a:cs typeface=""/>
        <a:font script="Jpan" typeface="ＭＳ Ｐゴシック"/>
        <a:font script="Hang" typeface="맑은 고딕"/>
        <a:font script="Hans" typeface="Roboto Light"/>
        <a:font script="Hant" typeface="新細明體"/>
        <a:font script="Arab" typeface="Roboto Light"/>
        <a:font script="Hebr" typeface="Roboto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231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Roboto Light</vt:lpstr>
      <vt:lpstr>Arial</vt:lpstr>
      <vt:lpstr>Calibri</vt:lpstr>
      <vt:lpstr>Roboto Medium</vt:lpstr>
      <vt:lpstr>Times New Roman</vt:lpstr>
      <vt:lpstr>Roboto Black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Sanath Ahamed</cp:lastModifiedBy>
  <cp:revision>101</cp:revision>
  <dcterms:created xsi:type="dcterms:W3CDTF">2023-04-03T04:16:00Z</dcterms:created>
  <dcterms:modified xsi:type="dcterms:W3CDTF">2025-03-22T09:10:12Z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64868AED8E024840AF6A42F2086C239C_13</vt:lpwstr>
  </property>
  <property fmtid="{D5CDD505-2E9C-101B-9397-08002B2CF9AE}" pid="3" name="KSOProductBuildVer">
    <vt:lpwstr>1033-12.2.0.20326</vt:lpwstr>
  </property>
</Properties>
</file>